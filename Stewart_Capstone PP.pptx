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2" r:id="rId2"/>
    <p:sldMasterId id="2147483687" r:id="rId3"/>
    <p:sldMasterId id="2147483672" r:id="rId4"/>
  </p:sldMasterIdLst>
  <p:sldIdLst>
    <p:sldId id="258" r:id="rId5"/>
    <p:sldId id="259" r:id="rId6"/>
    <p:sldId id="271" r:id="rId7"/>
    <p:sldId id="260" r:id="rId8"/>
    <p:sldId id="261" r:id="rId9"/>
    <p:sldId id="272" r:id="rId10"/>
    <p:sldId id="263" r:id="rId11"/>
    <p:sldId id="264" r:id="rId12"/>
    <p:sldId id="265" r:id="rId13"/>
    <p:sldId id="262" r:id="rId14"/>
    <p:sldId id="266" r:id="rId15"/>
    <p:sldId id="267" r:id="rId16"/>
    <p:sldId id="269" r:id="rId17"/>
    <p:sldId id="270" r:id="rId18"/>
    <p:sldId id="268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664A86D-4B40-4D4D-839A-2A70250C28A9}">
          <p14:sldIdLst>
            <p14:sldId id="258"/>
            <p14:sldId id="259"/>
            <p14:sldId id="271"/>
            <p14:sldId id="260"/>
            <p14:sldId id="261"/>
            <p14:sldId id="272"/>
            <p14:sldId id="263"/>
            <p14:sldId id="264"/>
            <p14:sldId id="265"/>
            <p14:sldId id="262"/>
            <p14:sldId id="266"/>
            <p14:sldId id="267"/>
            <p14:sldId id="269"/>
            <p14:sldId id="270"/>
            <p14:sldId id="268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4660"/>
  </p:normalViewPr>
  <p:slideViewPr>
    <p:cSldViewPr snapToGrid="0">
      <p:cViewPr>
        <p:scale>
          <a:sx n="69" d="100"/>
          <a:sy n="69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Stewart" userId="1ad53e802753c044" providerId="LiveId" clId="{75A58ACB-174F-42A2-872D-3C87F5145DB3}"/>
    <pc:docChg chg="custSel addSld modSld modSection">
      <pc:chgData name="Sara Stewart" userId="1ad53e802753c044" providerId="LiveId" clId="{75A58ACB-174F-42A2-872D-3C87F5145DB3}" dt="2025-12-04T14:23:18.753" v="289" actId="1076"/>
      <pc:docMkLst>
        <pc:docMk/>
      </pc:docMkLst>
      <pc:sldChg chg="modSp mod">
        <pc:chgData name="Sara Stewart" userId="1ad53e802753c044" providerId="LiveId" clId="{75A58ACB-174F-42A2-872D-3C87F5145DB3}" dt="2025-12-04T04:03:11.660" v="150" actId="20577"/>
        <pc:sldMkLst>
          <pc:docMk/>
          <pc:sldMk cId="807571999" sldId="262"/>
        </pc:sldMkLst>
        <pc:spChg chg="mod">
          <ac:chgData name="Sara Stewart" userId="1ad53e802753c044" providerId="LiveId" clId="{75A58ACB-174F-42A2-872D-3C87F5145DB3}" dt="2025-12-04T04:03:11.660" v="150" actId="20577"/>
          <ac:spMkLst>
            <pc:docMk/>
            <pc:sldMk cId="807571999" sldId="262"/>
            <ac:spMk id="3" creationId="{09A7BF02-A530-CDE0-5993-72B4C20C4906}"/>
          </ac:spMkLst>
        </pc:spChg>
      </pc:sldChg>
      <pc:sldChg chg="modSp mod">
        <pc:chgData name="Sara Stewart" userId="1ad53e802753c044" providerId="LiveId" clId="{75A58ACB-174F-42A2-872D-3C87F5145DB3}" dt="2025-12-04T01:27:32.223" v="3" actId="1076"/>
        <pc:sldMkLst>
          <pc:docMk/>
          <pc:sldMk cId="586192741" sldId="264"/>
        </pc:sldMkLst>
        <pc:spChg chg="mod">
          <ac:chgData name="Sara Stewart" userId="1ad53e802753c044" providerId="LiveId" clId="{75A58ACB-174F-42A2-872D-3C87F5145DB3}" dt="2025-12-04T01:27:32.223" v="3" actId="1076"/>
          <ac:spMkLst>
            <pc:docMk/>
            <pc:sldMk cId="586192741" sldId="264"/>
            <ac:spMk id="4" creationId="{9BEA310A-5A69-5FFA-B6CD-70CD1F0BA6D7}"/>
          </ac:spMkLst>
        </pc:spChg>
      </pc:sldChg>
      <pc:sldChg chg="modSp mod">
        <pc:chgData name="Sara Stewart" userId="1ad53e802753c044" providerId="LiveId" clId="{75A58ACB-174F-42A2-872D-3C87F5145DB3}" dt="2025-12-04T14:20:50.344" v="177" actId="20577"/>
        <pc:sldMkLst>
          <pc:docMk/>
          <pc:sldMk cId="2605571484" sldId="267"/>
        </pc:sldMkLst>
        <pc:graphicFrameChg chg="modGraphic">
          <ac:chgData name="Sara Stewart" userId="1ad53e802753c044" providerId="LiveId" clId="{75A58ACB-174F-42A2-872D-3C87F5145DB3}" dt="2025-12-04T14:20:50.344" v="177" actId="20577"/>
          <ac:graphicFrameMkLst>
            <pc:docMk/>
            <pc:sldMk cId="2605571484" sldId="267"/>
            <ac:graphicFrameMk id="4" creationId="{E808EBC0-3DF1-964B-AA48-5821DD0E5B4E}"/>
          </ac:graphicFrameMkLst>
        </pc:graphicFrameChg>
      </pc:sldChg>
      <pc:sldChg chg="modSp mod">
        <pc:chgData name="Sara Stewart" userId="1ad53e802753c044" providerId="LiveId" clId="{75A58ACB-174F-42A2-872D-3C87F5145DB3}" dt="2025-12-04T02:32:22.362" v="126" actId="20577"/>
        <pc:sldMkLst>
          <pc:docMk/>
          <pc:sldMk cId="310321650" sldId="268"/>
        </pc:sldMkLst>
        <pc:spChg chg="mod">
          <ac:chgData name="Sara Stewart" userId="1ad53e802753c044" providerId="LiveId" clId="{75A58ACB-174F-42A2-872D-3C87F5145DB3}" dt="2025-12-04T02:32:22.362" v="126" actId="20577"/>
          <ac:spMkLst>
            <pc:docMk/>
            <pc:sldMk cId="310321650" sldId="268"/>
            <ac:spMk id="3" creationId="{D7A08DE9-44AC-C063-9914-15A8C2AF9969}"/>
          </ac:spMkLst>
        </pc:spChg>
      </pc:sldChg>
      <pc:sldChg chg="modSp mod">
        <pc:chgData name="Sara Stewart" userId="1ad53e802753c044" providerId="LiveId" clId="{75A58ACB-174F-42A2-872D-3C87F5145DB3}" dt="2025-12-04T14:21:18.969" v="188" actId="20577"/>
        <pc:sldMkLst>
          <pc:docMk/>
          <pc:sldMk cId="1259057248" sldId="269"/>
        </pc:sldMkLst>
        <pc:graphicFrameChg chg="modGraphic">
          <ac:chgData name="Sara Stewart" userId="1ad53e802753c044" providerId="LiveId" clId="{75A58ACB-174F-42A2-872D-3C87F5145DB3}" dt="2025-12-04T14:21:18.969" v="188" actId="20577"/>
          <ac:graphicFrameMkLst>
            <pc:docMk/>
            <pc:sldMk cId="1259057248" sldId="269"/>
            <ac:graphicFrameMk id="4" creationId="{8E901CB4-FE06-601C-07C7-F5E3556FB17B}"/>
          </ac:graphicFrameMkLst>
        </pc:graphicFrameChg>
      </pc:sldChg>
      <pc:sldChg chg="modSp add mod">
        <pc:chgData name="Sara Stewart" userId="1ad53e802753c044" providerId="LiveId" clId="{75A58ACB-174F-42A2-872D-3C87F5145DB3}" dt="2025-12-04T14:23:18.753" v="289" actId="1076"/>
        <pc:sldMkLst>
          <pc:docMk/>
          <pc:sldMk cId="2732470361" sldId="273"/>
        </pc:sldMkLst>
        <pc:spChg chg="mod">
          <ac:chgData name="Sara Stewart" userId="1ad53e802753c044" providerId="LiveId" clId="{75A58ACB-174F-42A2-872D-3C87F5145DB3}" dt="2025-12-04T14:23:18.753" v="289" actId="1076"/>
          <ac:spMkLst>
            <pc:docMk/>
            <pc:sldMk cId="2732470361" sldId="273"/>
            <ac:spMk id="2" creationId="{BD95691D-DF9B-5C82-6C8F-47C7EBFBDA99}"/>
          </ac:spMkLst>
        </pc:spChg>
        <pc:spChg chg="mod">
          <ac:chgData name="Sara Stewart" userId="1ad53e802753c044" providerId="LiveId" clId="{75A58ACB-174F-42A2-872D-3C87F5145DB3}" dt="2025-12-04T14:22:55.146" v="286" actId="1076"/>
          <ac:spMkLst>
            <pc:docMk/>
            <pc:sldMk cId="2732470361" sldId="273"/>
            <ac:spMk id="3" creationId="{19D151C6-C5E5-DAFE-B1E6-E640F8D355E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rojection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41A25C-4541-4C24-B7F1-2931B59FCC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266668"/>
            <a:ext cx="5547046" cy="186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18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rojection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5FD24C-7FE8-4821-B3A9-BE5CCC8B8B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620" y="2226394"/>
            <a:ext cx="5503940" cy="179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7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avy Cover-Title with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158FA55D-D9DC-48FB-82F3-1C17E255BA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484906"/>
            <a:ext cx="6858000" cy="107506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C041B-78A7-4A9D-BA4C-4B5A3E377E0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1" y="3031066"/>
            <a:ext cx="6857999" cy="1337733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515489-4F26-48DD-8F27-15966AEFC6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786" y="1165917"/>
            <a:ext cx="4198852" cy="141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099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-Title with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158FA55D-D9DC-48FB-82F3-1C17E255BA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484906"/>
            <a:ext cx="6858000" cy="107506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801865-D825-4376-B108-4B402E1A05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3141134"/>
            <a:ext cx="6858000" cy="1227139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4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304BE5-BF70-41A0-BAA7-D6CD2CD392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388" y="1197699"/>
            <a:ext cx="4198851" cy="136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0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94345B-51E1-48BA-8DD3-D289779D938B}"/>
              </a:ext>
            </a:extLst>
          </p:cNvPr>
          <p:cNvSpPr/>
          <p:nvPr userDrawn="1"/>
        </p:nvSpPr>
        <p:spPr>
          <a:xfrm>
            <a:off x="0" y="0"/>
            <a:ext cx="9144000" cy="24909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F5933-A7C5-414D-93EF-23E722D13A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2255" y="3710344"/>
            <a:ext cx="5239490" cy="15445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Thank you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4AF086-69A1-49B7-82F6-D0EAF00B3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044" y="530637"/>
            <a:ext cx="2448239" cy="14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79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56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AD9F9E7-96D7-4B3D-B41A-108635801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13CE537-BF8A-43D7-96D1-B79BD8EC8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64375-F36B-4AE2-ADC8-49F012E38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7C47F4-245A-4F07-9A64-DEF60E4E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4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777E-D411-45B6-AF0E-52EBF554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7508-E956-437C-97B9-F70D3B9C3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2DA6C-FECE-4968-8405-2703F92A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FD70B-FC1D-4193-95DA-CDE8F786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03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7F1-04EB-4C73-90FD-7DEAC3336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7771D-4F8F-4911-9C60-6EDDCA71A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1D163-AFDB-4B1A-8A9C-996CE0C4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8FB46-E23A-4326-854A-D368983C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4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5949-6C48-4EB7-AFA0-6D14A81D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44719-2142-4D4D-9C4F-5491B014D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0B328-D770-46F5-8A75-2B5C35920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FF6A5-43DF-48CA-96DF-BD32C9ED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08623-2302-4B5E-8DDD-9743A7C4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67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DDD9-3510-4963-9160-8B13A59F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A452E-FF63-4A5D-924A-235282C46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F23D8-8D76-402A-A6E9-7D3D702F7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49B34-B384-4577-8BDE-B16EAF6BA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CFB39-FA20-4821-9882-E33A7390C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FA23EC-6702-4461-A13F-11A078D4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1FA28-4F88-4D8B-BCF9-3E5B48749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80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6B9C-BC06-4E48-BAF6-A6B2901F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2CECF-DAA0-4908-B93A-742EE13E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A71CC-6B43-4261-9A38-E3C7E09E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84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A483A-A452-4FF1-AC72-E37302D0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9C87A-1B23-43F7-AEB4-7247FDFB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59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1866-43ED-41E0-B619-0EDAC38E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78583-B43C-48EA-B2F0-D24B05767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7251A-B057-4F6F-A27E-65A4D4AA0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3139C-057D-446C-80E4-9800A3B2A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561F0-A2A4-4E18-B362-47E677C6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97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BBA86-B123-4E36-8CF4-7D8FB75A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47396B-255C-456D-921F-88A858052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BE32A-AFF0-4D98-A509-7D0784B87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21ED-4685-464A-8871-0212DFC1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55114-B05E-4DBC-A4D9-9C1E4C0A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86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3874-3EA6-4ADA-8919-84D0B1FD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A1E07-4C20-4C4A-A1C4-8ECD98E94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D674D-6FBC-4914-9369-00090FAD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DB512-7FB1-4FA2-9F83-8B9F6606B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17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BCF246-DA09-4188-AA5E-95A2E53C7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DD9D3-4569-4C9C-9EDB-BBE37D452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64A19-A6D7-4160-9F84-786DC59B4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F3314-C269-4E3D-8824-B81B3BF62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407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2607F-A0D7-414C-B0C1-2251342AF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A4700-1B71-487E-9DBB-61CED8191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60B58-30C1-41E9-A64B-BB6F3784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946CF-5B99-4C9B-BFD9-160D27F4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928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777E-D411-45B6-AF0E-52EBF554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C7508-E956-437C-97B9-F70D3B9C3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2DA6C-FECE-4968-8405-2703F92A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FD70B-FC1D-4193-95DA-CDE8F786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040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7F1-04EB-4C73-90FD-7DEAC3336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7771D-4F8F-4911-9C60-6EDDCA71A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1D163-AFDB-4B1A-8A9C-996CE0C4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8FB46-E23A-4326-854A-D368983C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814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5949-6C48-4EB7-AFA0-6D14A81D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44719-2142-4D4D-9C4F-5491B014D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0B328-D770-46F5-8A75-2B5C35920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FF6A5-43DF-48CA-96DF-BD32C9ED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08623-2302-4B5E-8DDD-9743A7C4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273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DDD9-3510-4963-9160-8B13A59F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A452E-FF63-4A5D-924A-235282C46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F23D8-8D76-402A-A6E9-7D3D702F7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49B34-B384-4577-8BDE-B16EAF6BA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CFB39-FA20-4821-9882-E33A7390C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FA23EC-6702-4461-A13F-11A078D4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1FA28-4F88-4D8B-BCF9-3E5B48749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25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6B9C-BC06-4E48-BAF6-A6B2901F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2CECF-DAA0-4908-B93A-742EE13E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A71CC-6B43-4261-9A38-E3C7E09E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589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A483A-A452-4FF1-AC72-E37302D0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9C87A-1B23-43F7-AEB4-7247FDFB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596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1866-43ED-41E0-B619-0EDAC38E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78583-B43C-48EA-B2F0-D24B05767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7251A-B057-4F6F-A27E-65A4D4AA0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3139C-057D-446C-80E4-9800A3B2A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561F0-A2A4-4E18-B362-47E677C6D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388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BBA86-B123-4E36-8CF4-7D8FB75A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47396B-255C-456D-921F-88A8580529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BE32A-AFF0-4D98-A509-7D0784B87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21ED-4685-464A-8871-0212DFC1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55114-B05E-4DBC-A4D9-9C1E4C0A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062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3874-3EA6-4ADA-8919-84D0B1FD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A1E07-4C20-4C4A-A1C4-8ECD98E94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D674D-6FBC-4914-9369-00090FAD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DB512-7FB1-4FA2-9F83-8B9F6606B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021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BCF246-DA09-4188-AA5E-95A2E53C7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DD9D3-4569-4C9C-9EDB-BBE37D452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64A19-A6D7-4160-9F84-786DC59B4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F3314-C269-4E3D-8824-B81B3BF62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1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898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5" r:id="rId2"/>
    <p:sldLayoutId id="2147483684" r:id="rId3"/>
    <p:sldLayoutId id="214748370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009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580DC-9B5F-44C1-922E-8D1A4D50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3386E-8CE8-43B2-836B-5DF95E3AC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F979B-529D-4EB8-8DD2-9DFC37B3D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94C47-6033-4878-A216-87BE6BC94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B822E6-FB5E-4AB7-B162-07BB959DC6B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58" y="6263125"/>
            <a:ext cx="1342427" cy="45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580DC-9B5F-44C1-922E-8D1A4D50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3386E-8CE8-43B2-836B-5DF95E3AC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F979B-529D-4EB8-8DD2-9DFC37B3D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94C47-6033-4878-A216-87BE6BC94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DFC8E-D006-4B55-BBF2-7AB50F8F017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294ED9-D15E-4DCF-9FBD-1B469C5C7FE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38" y="6255429"/>
            <a:ext cx="1389706" cy="45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5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6B08795-2AA1-2EAE-3BF9-D78418BC19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Sara Stewart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92AAD-5F26-2D10-7BBB-C44AC17121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b="1" dirty="0"/>
              <a:t>The Financial Impact of Sustainability Commitments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6467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92A48-E03A-1912-1759-05B9A3EE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BDDD3-8026-9940-8C8C-19BBB38CD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I’m Asking:</a:t>
            </a:r>
          </a:p>
          <a:p>
            <a:pPr marL="457200" lvl="1" indent="0">
              <a:buNone/>
            </a:pPr>
            <a:r>
              <a:rPr lang="en-US" dirty="0"/>
              <a:t>Do sustainability commitments impact financial performance or consumer interest?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Why It Matters:</a:t>
            </a:r>
          </a:p>
          <a:p>
            <a:pPr marL="457200" lvl="1" indent="0">
              <a:buNone/>
            </a:pPr>
            <a:r>
              <a:rPr lang="en-US" dirty="0"/>
              <a:t>Fashion brands face pressure for transparency — but do commitments actually accomplish anything measurable?</a:t>
            </a:r>
          </a:p>
        </p:txBody>
      </p:sp>
    </p:spTree>
    <p:extLst>
      <p:ext uri="{BB962C8B-B14F-4D97-AF65-F5344CB8AC3E}">
        <p14:creationId xmlns:p14="http://schemas.microsoft.com/office/powerpoint/2010/main" val="2349229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59BD4-966A-80F5-E4C4-F9B0EDF7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B8BA-1ACE-BCD4-AF68-77AEE2CF5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42974"/>
          </a:xfrm>
        </p:spPr>
        <p:txBody>
          <a:bodyPr/>
          <a:lstStyle/>
          <a:p>
            <a:r>
              <a:rPr lang="en-US" dirty="0"/>
              <a:t>Sustainability Commitments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111C8-3D9E-51FB-AAB3-AB73C52EA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46225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are “sustainability commitments”?</a:t>
            </a:r>
          </a:p>
          <a:p>
            <a:r>
              <a:rPr lang="en-US" dirty="0"/>
              <a:t>H&amp;M – “Conscious Collection”</a:t>
            </a:r>
          </a:p>
          <a:p>
            <a:r>
              <a:rPr lang="en-US" dirty="0"/>
              <a:t>Burberry – “</a:t>
            </a:r>
            <a:r>
              <a:rPr lang="en-US" dirty="0" err="1"/>
              <a:t>ReBurberry</a:t>
            </a:r>
            <a:r>
              <a:rPr lang="en-US" dirty="0"/>
              <a:t> Edit”</a:t>
            </a:r>
          </a:p>
          <a:p>
            <a:r>
              <a:rPr lang="en-US" dirty="0"/>
              <a:t>Adidas – Launched FUTURECRAFT.LOOP</a:t>
            </a:r>
          </a:p>
          <a:p>
            <a:r>
              <a:rPr lang="en-US" dirty="0"/>
              <a:t>Lululemon – “Earth Dye Collection”</a:t>
            </a:r>
          </a:p>
          <a:p>
            <a:r>
              <a:rPr lang="en-US" dirty="0"/>
              <a:t>Columbia – “</a:t>
            </a:r>
            <a:r>
              <a:rPr lang="en-US" dirty="0" err="1"/>
              <a:t>OutDry</a:t>
            </a:r>
            <a:r>
              <a:rPr lang="en-US" dirty="0"/>
              <a:t> Collection”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000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D5EF-F8AE-64CE-D088-E56F38D09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42974"/>
          </a:xfrm>
        </p:spPr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97E39-4B96-E32D-261B-F4DD499BE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46225"/>
            <a:ext cx="78867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What Research Shows:</a:t>
            </a:r>
            <a:endParaRPr lang="en-US" dirty="0"/>
          </a:p>
          <a:p>
            <a:r>
              <a:rPr lang="en-US" dirty="0"/>
              <a:t>Sustainability </a:t>
            </a:r>
            <a:r>
              <a:rPr lang="en-US" i="1" dirty="0"/>
              <a:t>might</a:t>
            </a:r>
            <a:r>
              <a:rPr lang="en-US" dirty="0"/>
              <a:t> improve brand reputation</a:t>
            </a:r>
          </a:p>
          <a:p>
            <a:r>
              <a:rPr lang="en-US" dirty="0"/>
              <a:t>Financial effects are inconsistent</a:t>
            </a:r>
          </a:p>
          <a:p>
            <a:r>
              <a:rPr lang="en-US" dirty="0"/>
              <a:t>Online visibility effects are understudied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Key Gaps:</a:t>
            </a:r>
            <a:endParaRPr lang="en-US" dirty="0"/>
          </a:p>
          <a:p>
            <a:r>
              <a:rPr lang="en-US" dirty="0"/>
              <a:t>Few causal studies in fashion</a:t>
            </a:r>
          </a:p>
          <a:p>
            <a:r>
              <a:rPr lang="en-US" dirty="0"/>
              <a:t>Almost no use of Google Trends</a:t>
            </a:r>
          </a:p>
          <a:p>
            <a:r>
              <a:rPr lang="en-US" dirty="0"/>
              <a:t>Rarely compare treated vs matched control brands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742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2EC05-ABEA-1FBA-B957-4C09D8489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3817-0228-A8E2-CC2E-F57ADA22D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68374"/>
          </a:xfrm>
        </p:spPr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091DF-27C0-B27F-3E71-751253256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4325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Data Sources:</a:t>
            </a:r>
            <a:endParaRPr lang="en-US" dirty="0"/>
          </a:p>
          <a:p>
            <a:r>
              <a:rPr lang="en-US" dirty="0"/>
              <a:t>Revenue &amp; stock data: corporate filings + Yahoo Finance</a:t>
            </a:r>
          </a:p>
          <a:p>
            <a:r>
              <a:rPr lang="en-US" dirty="0"/>
              <a:t>Consumer interest: Google Trends</a:t>
            </a:r>
          </a:p>
          <a:p>
            <a:r>
              <a:rPr lang="en-US" dirty="0"/>
              <a:t>Sustainability data: FTI reports + Good On You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Sample:</a:t>
            </a:r>
            <a:br>
              <a:rPr lang="en-US" dirty="0"/>
            </a:br>
            <a:r>
              <a:rPr lang="en-US" dirty="0"/>
              <a:t>5 treated brands matched with 5 controls</a:t>
            </a:r>
            <a:br>
              <a:rPr lang="en-US" dirty="0"/>
            </a:br>
            <a:r>
              <a:rPr lang="en-US" dirty="0"/>
              <a:t>6-year window (–3 to +3 relative to commitment)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258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E728-6A4D-2632-5C49-64E7A7AF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Brands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11E5C-B6DE-B013-4B04-9438149BA0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Adidas 		</a:t>
            </a:r>
            <a:r>
              <a:rPr lang="en-US" dirty="0">
                <a:sym typeface="Wingdings" panose="05000000000000000000" pitchFamily="2" charset="2"/>
              </a:rPr>
              <a:t>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Burberry 		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H&amp;M			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Lululemon		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Columbia		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0B9DC-87DB-FC97-750A-BE8520ED6D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Under Amour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Ralph Lauren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Next plc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Nike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Canada Goose</a:t>
            </a:r>
          </a:p>
        </p:txBody>
      </p:sp>
    </p:spTree>
    <p:extLst>
      <p:ext uri="{BB962C8B-B14F-4D97-AF65-F5344CB8AC3E}">
        <p14:creationId xmlns:p14="http://schemas.microsoft.com/office/powerpoint/2010/main" val="1332805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1334-5D37-DF4F-55B8-43A30983D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6517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Descriptive Statistics - Revenue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A1876-4B6B-3673-CE84-395D30291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150" y="5106618"/>
            <a:ext cx="7575550" cy="142634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Treated brands start higher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Both groups grow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Treated show a dip at Year 0</a:t>
            </a:r>
          </a:p>
        </p:txBody>
      </p:sp>
      <p:pic>
        <p:nvPicPr>
          <p:cNvPr id="6" name="Content Placeholder 5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50472C94-B2AF-0E8C-F0FE-065A36CD5B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850" y="1130301"/>
            <a:ext cx="6140450" cy="3822429"/>
          </a:xfrm>
          <a:noFill/>
        </p:spPr>
      </p:pic>
    </p:spTree>
    <p:extLst>
      <p:ext uri="{BB962C8B-B14F-4D97-AF65-F5344CB8AC3E}">
        <p14:creationId xmlns:p14="http://schemas.microsoft.com/office/powerpoint/2010/main" val="2677775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F3D86-2018-6343-AA79-46398AF66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EFB34-8367-25A6-93A6-CDFFB1398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473" y="238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4000" dirty="0"/>
              <a:t>Descriptive Statistics - Stock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A310A-5A69-5FFA-B6CD-70CD1F0BA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60981" y="5671585"/>
            <a:ext cx="6595933" cy="1516544"/>
          </a:xfrm>
        </p:spPr>
        <p:txBody>
          <a:bodyPr>
            <a:normAutofit/>
          </a:bodyPr>
          <a:lstStyle/>
          <a:p>
            <a:r>
              <a:rPr lang="en-US" sz="2000" dirty="0"/>
              <a:t>Large pre-treatment volatility</a:t>
            </a:r>
          </a:p>
          <a:p>
            <a:r>
              <a:rPr lang="en-US" sz="2000" dirty="0"/>
              <a:t>Drop appears in both groups</a:t>
            </a:r>
          </a:p>
        </p:txBody>
      </p:sp>
      <p:pic>
        <p:nvPicPr>
          <p:cNvPr id="9" name="Content Placeholder 8" descr="A graph of a stock market&#10;&#10;AI-generated content may be incorrect.">
            <a:extLst>
              <a:ext uri="{FF2B5EF4-FFF2-40B4-BE49-F238E27FC236}">
                <a16:creationId xmlns:a16="http://schemas.microsoft.com/office/drawing/2014/main" id="{466A3936-DD0E-0362-B59A-4F64A4DDF6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82" y="1206500"/>
            <a:ext cx="7087445" cy="4254983"/>
          </a:xfrm>
        </p:spPr>
      </p:pic>
    </p:spTree>
    <p:extLst>
      <p:ext uri="{BB962C8B-B14F-4D97-AF65-F5344CB8AC3E}">
        <p14:creationId xmlns:p14="http://schemas.microsoft.com/office/powerpoint/2010/main" val="586192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66500-AD16-81EF-D885-2E21B8F50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7DC5-BA4D-2A1B-BF7A-6A9D934A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9273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sz="4000" dirty="0"/>
              <a:t>Descriptive Statistics – G Trends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38218-0B16-F745-1D39-C79D8A14D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9750" y="5389364"/>
            <a:ext cx="8299450" cy="1468636"/>
          </a:xfrm>
        </p:spPr>
        <p:txBody>
          <a:bodyPr>
            <a:normAutofit/>
          </a:bodyPr>
          <a:lstStyle/>
          <a:p>
            <a:r>
              <a:rPr lang="en-US" sz="2400" dirty="0"/>
              <a:t>Similar patterns</a:t>
            </a:r>
          </a:p>
          <a:p>
            <a:r>
              <a:rPr lang="en-US" sz="2400" dirty="0"/>
              <a:t>Treated brands slightly higher</a:t>
            </a:r>
          </a:p>
          <a:p>
            <a:r>
              <a:rPr lang="en-US" sz="2400" dirty="0"/>
              <a:t>No consistent rise after commitments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8" name="Content Placeholder 7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C1459A07-0B79-F6FA-3129-61D8B89134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248301"/>
            <a:ext cx="6708775" cy="4064864"/>
          </a:xfrm>
        </p:spPr>
      </p:pic>
    </p:spTree>
    <p:extLst>
      <p:ext uri="{BB962C8B-B14F-4D97-AF65-F5344CB8AC3E}">
        <p14:creationId xmlns:p14="http://schemas.microsoft.com/office/powerpoint/2010/main" val="2517856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4762A-954A-7CD5-586F-4AF2C21A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B4DFC-D98B-E65F-5494-AD046FAE4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7BF02-A530-CDE0-5993-72B4C20C4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Brand Matching to Comparable Control (PSM)</a:t>
            </a:r>
            <a:br>
              <a:rPr lang="en-US" dirty="0"/>
            </a:br>
            <a:endParaRPr lang="en-US" dirty="0"/>
          </a:p>
          <a:p>
            <a:r>
              <a:rPr lang="en-US" dirty="0"/>
              <a:t>Check pre-treatment similarity (t test)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Estimate causal effects (</a:t>
            </a:r>
            <a:r>
              <a:rPr lang="en-US" dirty="0" err="1"/>
              <a:t>DiD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r>
              <a:rPr lang="en-US" dirty="0"/>
              <a:t>Track year-by-year impacts (Event Study)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71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FF578-490E-9499-4903-E8BBAD83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BCDC8-D945-8A59-53D6-78519BAE8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27C45-2B73-9030-8DA2-6A17CCF5F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Matched-Pair Differences:</a:t>
            </a:r>
            <a:endParaRPr lang="en-US" dirty="0"/>
          </a:p>
          <a:p>
            <a:r>
              <a:rPr lang="en-US" dirty="0"/>
              <a:t>Revenue: β = -1.035, p = .69</a:t>
            </a:r>
          </a:p>
          <a:p>
            <a:r>
              <a:rPr lang="en-US" dirty="0"/>
              <a:t>Stock: β = 0.097, p = .12</a:t>
            </a:r>
          </a:p>
          <a:p>
            <a:r>
              <a:rPr lang="en-US" dirty="0"/>
              <a:t>Google Trends: β = 2.798, p = .16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Difference-in-Differences:</a:t>
            </a:r>
            <a:endParaRPr lang="en-US" dirty="0"/>
          </a:p>
          <a:p>
            <a:r>
              <a:rPr lang="en-US" dirty="0"/>
              <a:t>Revenue: β = .096, p = .64</a:t>
            </a:r>
          </a:p>
          <a:p>
            <a:r>
              <a:rPr lang="en-US" dirty="0"/>
              <a:t>Stock: β = −.23, p = .77</a:t>
            </a:r>
          </a:p>
          <a:p>
            <a:r>
              <a:rPr lang="en-US" dirty="0"/>
              <a:t>Google Trends: β = .59, p = .88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579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AC5DD-FD4F-056C-01B1-408139D3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C7FC-C7ED-4453-2CE6-91025266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Event-Study Interpretation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08EBC0-3DF1-964B-AA48-5821DD0E5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21541"/>
              </p:ext>
            </p:extLst>
          </p:nvPr>
        </p:nvGraphicFramePr>
        <p:xfrm>
          <a:off x="628650" y="2772682"/>
          <a:ext cx="7886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771">
                  <a:extLst>
                    <a:ext uri="{9D8B030D-6E8A-4147-A177-3AD203B41FA5}">
                      <a16:colId xmlns:a16="http://schemas.microsoft.com/office/drawing/2014/main" val="1162814125"/>
                    </a:ext>
                  </a:extLst>
                </a:gridCol>
                <a:gridCol w="3427029">
                  <a:extLst>
                    <a:ext uri="{9D8B030D-6E8A-4147-A177-3AD203B41FA5}">
                      <a16:colId xmlns:a16="http://schemas.microsoft.com/office/drawing/2014/main" val="20731852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94738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Relative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-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23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- 3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- 0.1866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24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- 0.1938 (17.62%)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0.0313 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95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- 0.0775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0.5372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28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- 0.2116 (19.07%)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0.0461 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13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0.5758 (77.86%)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 0.0001 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8418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D2EFA45-7D7B-80FB-402E-7E91A54D51D5}"/>
              </a:ext>
            </a:extLst>
          </p:cNvPr>
          <p:cNvSpPr txBox="1"/>
          <p:nvPr/>
        </p:nvSpPr>
        <p:spPr>
          <a:xfrm>
            <a:off x="3763736" y="2000853"/>
            <a:ext cx="1616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Revenue</a:t>
            </a:r>
          </a:p>
        </p:txBody>
      </p:sp>
    </p:spTree>
    <p:extLst>
      <p:ext uri="{BB962C8B-B14F-4D97-AF65-F5344CB8AC3E}">
        <p14:creationId xmlns:p14="http://schemas.microsoft.com/office/powerpoint/2010/main" val="2605571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105E-F734-5D95-18B8-13FF55607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246D-48CC-8A15-C0C3-3D5DE9C86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Event-Study Interpretation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01CB4-FE06-601C-07C7-F5E3556FB1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272715"/>
              </p:ext>
            </p:extLst>
          </p:nvPr>
        </p:nvGraphicFramePr>
        <p:xfrm>
          <a:off x="628650" y="2772682"/>
          <a:ext cx="7886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771">
                  <a:extLst>
                    <a:ext uri="{9D8B030D-6E8A-4147-A177-3AD203B41FA5}">
                      <a16:colId xmlns:a16="http://schemas.microsoft.com/office/drawing/2014/main" val="1162814125"/>
                    </a:ext>
                  </a:extLst>
                </a:gridCol>
                <a:gridCol w="3427029">
                  <a:extLst>
                    <a:ext uri="{9D8B030D-6E8A-4147-A177-3AD203B41FA5}">
                      <a16:colId xmlns:a16="http://schemas.microsoft.com/office/drawing/2014/main" val="20731852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94738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Relative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-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23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- 3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24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- 0.8900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95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- 0.1692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28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- 1.2231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13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- 1.4566 (76.70%)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0.0061 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8418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1F93832-3794-1CD3-B06F-1EDDB699BC46}"/>
              </a:ext>
            </a:extLst>
          </p:cNvPr>
          <p:cNvSpPr txBox="1"/>
          <p:nvPr/>
        </p:nvSpPr>
        <p:spPr>
          <a:xfrm>
            <a:off x="4078061" y="2000853"/>
            <a:ext cx="987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Stock</a:t>
            </a:r>
          </a:p>
        </p:txBody>
      </p:sp>
    </p:spTree>
    <p:extLst>
      <p:ext uri="{BB962C8B-B14F-4D97-AF65-F5344CB8AC3E}">
        <p14:creationId xmlns:p14="http://schemas.microsoft.com/office/powerpoint/2010/main" val="1259057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339A5-4BC5-27CC-AD0E-CC8AA738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0CB4E-140E-32B4-4870-E6C49D8D1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Event-Study Interpretation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39B42C-E82B-F562-3F30-922FB7E220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2350779"/>
              </p:ext>
            </p:extLst>
          </p:nvPr>
        </p:nvGraphicFramePr>
        <p:xfrm>
          <a:off x="628650" y="2772682"/>
          <a:ext cx="7886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771">
                  <a:extLst>
                    <a:ext uri="{9D8B030D-6E8A-4147-A177-3AD203B41FA5}">
                      <a16:colId xmlns:a16="http://schemas.microsoft.com/office/drawing/2014/main" val="1162814125"/>
                    </a:ext>
                  </a:extLst>
                </a:gridCol>
                <a:gridCol w="3427029">
                  <a:extLst>
                    <a:ext uri="{9D8B030D-6E8A-4147-A177-3AD203B41FA5}">
                      <a16:colId xmlns:a16="http://schemas.microsoft.com/office/drawing/2014/main" val="20731852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94738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Relative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-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238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- 3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- 2.4420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0.4556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24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dirty="0"/>
                        <a:t>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- 4.2330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95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- 3.9176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0.2493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28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- 2.9795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0.2659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13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- 4.8782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0.98472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8418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1338090-066A-349A-72AC-E099B8F56377}"/>
              </a:ext>
            </a:extLst>
          </p:cNvPr>
          <p:cNvSpPr txBox="1"/>
          <p:nvPr/>
        </p:nvSpPr>
        <p:spPr>
          <a:xfrm>
            <a:off x="3269796" y="2042277"/>
            <a:ext cx="2604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Google Trends</a:t>
            </a:r>
          </a:p>
        </p:txBody>
      </p:sp>
    </p:spTree>
    <p:extLst>
      <p:ext uri="{BB962C8B-B14F-4D97-AF65-F5344CB8AC3E}">
        <p14:creationId xmlns:p14="http://schemas.microsoft.com/office/powerpoint/2010/main" val="2796440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DF00F-2072-2047-02FD-44C2D08E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C1672-66D4-8939-FFF8-4305A021A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69974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08DE9-44AC-C063-9914-15A8C2AF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435101"/>
            <a:ext cx="78867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Conclusion:</a:t>
            </a:r>
            <a:endParaRPr lang="en-US" dirty="0"/>
          </a:p>
          <a:p>
            <a:r>
              <a:rPr lang="en-US" dirty="0"/>
              <a:t>No short-term effects</a:t>
            </a:r>
          </a:p>
          <a:p>
            <a:r>
              <a:rPr lang="en-US" dirty="0"/>
              <a:t>Medium-term effects inconsistent</a:t>
            </a:r>
          </a:p>
          <a:p>
            <a:r>
              <a:rPr lang="en-US" dirty="0"/>
              <a:t>Search interest unaffected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Future Work:</a:t>
            </a:r>
            <a:endParaRPr lang="en-US" dirty="0"/>
          </a:p>
          <a:p>
            <a:r>
              <a:rPr lang="en-US" dirty="0"/>
              <a:t>Larger brand samples</a:t>
            </a:r>
          </a:p>
          <a:p>
            <a:r>
              <a:rPr lang="en-US" dirty="0"/>
              <a:t>Specific consumer interest measures</a:t>
            </a:r>
          </a:p>
          <a:p>
            <a:r>
              <a:rPr lang="en-US" dirty="0"/>
              <a:t>Examine types of sustainability initiatives</a:t>
            </a:r>
          </a:p>
        </p:txBody>
      </p:sp>
    </p:spTree>
    <p:extLst>
      <p:ext uri="{BB962C8B-B14F-4D97-AF65-F5344CB8AC3E}">
        <p14:creationId xmlns:p14="http://schemas.microsoft.com/office/powerpoint/2010/main" val="310321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0F13A-227F-50A2-5A01-DF153647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5691D-DF9B-5C82-6C8F-47C7EBFBD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1052" y="753054"/>
            <a:ext cx="4081895" cy="1069974"/>
          </a:xfrm>
        </p:spPr>
        <p:txBody>
          <a:bodyPr/>
          <a:lstStyle/>
          <a:p>
            <a:r>
              <a:rPr lang="en-US" dirty="0"/>
              <a:t>Special 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151C6-C5E5-DAFE-B1E6-E640F8D35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49501"/>
            <a:ext cx="7886700" cy="29706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Dr </a:t>
            </a:r>
            <a:r>
              <a:rPr lang="en-US" dirty="0" err="1"/>
              <a:t>Haimeng</a:t>
            </a:r>
            <a:r>
              <a:rPr lang="en-US" dirty="0"/>
              <a:t> Zhang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UNC at Greensboro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Faculty and Staff in the Math Department</a:t>
            </a:r>
          </a:p>
        </p:txBody>
      </p:sp>
    </p:spTree>
    <p:extLst>
      <p:ext uri="{BB962C8B-B14F-4D97-AF65-F5344CB8AC3E}">
        <p14:creationId xmlns:p14="http://schemas.microsoft.com/office/powerpoint/2010/main" val="2732470361"/>
      </p:ext>
    </p:extLst>
  </p:cSld>
  <p:clrMapOvr>
    <a:masterClrMapping/>
  </p:clrMapOvr>
</p:sld>
</file>

<file path=ppt/theme/theme1.xml><?xml version="1.0" encoding="utf-8"?>
<a:theme xmlns:a="http://schemas.openxmlformats.org/drawingml/2006/main" name="UNCG Cover-Projection Slides">
  <a:themeElements>
    <a:clrScheme name="Custom 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4FC2BF"/>
      </a:accent2>
      <a:accent3>
        <a:srgbClr val="00698C"/>
      </a:accent3>
      <a:accent4>
        <a:srgbClr val="A00C30"/>
      </a:accent4>
      <a:accent5>
        <a:srgbClr val="A59C87"/>
      </a:accent5>
      <a:accent6>
        <a:srgbClr val="92D1B3"/>
      </a:accent6>
      <a:hlink>
        <a:srgbClr val="507BD8"/>
      </a:hlink>
      <a:folHlink>
        <a:srgbClr val="EDEFF0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7460A33-6C3B-4401-A052-4C9873BD6F3C}" vid="{EA841FAC-9506-4FF8-BFBD-FFD2363D5B2A}"/>
    </a:ext>
  </a:extLst>
</a:theme>
</file>

<file path=ppt/theme/theme2.xml><?xml version="1.0" encoding="utf-8"?>
<a:theme xmlns:a="http://schemas.openxmlformats.org/drawingml/2006/main" name="UNCG_ End_Thank You Slides">
  <a:themeElements>
    <a:clrScheme name="Custom 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4FC2BF"/>
      </a:accent2>
      <a:accent3>
        <a:srgbClr val="00698C"/>
      </a:accent3>
      <a:accent4>
        <a:srgbClr val="A00C30"/>
      </a:accent4>
      <a:accent5>
        <a:srgbClr val="A59C87"/>
      </a:accent5>
      <a:accent6>
        <a:srgbClr val="92D1B3"/>
      </a:accent6>
      <a:hlink>
        <a:srgbClr val="507BD8"/>
      </a:hlink>
      <a:folHlink>
        <a:srgbClr val="EDEFF0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7460A33-6C3B-4401-A052-4C9873BD6F3C}" vid="{CC53BDFF-1688-43E1-AB08-2435F631F9C8}"/>
    </a:ext>
  </a:extLst>
</a:theme>
</file>

<file path=ppt/theme/theme3.xml><?xml version="1.0" encoding="utf-8"?>
<a:theme xmlns:a="http://schemas.openxmlformats.org/drawingml/2006/main" name="UNCG Navy Background">
  <a:themeElements>
    <a:clrScheme name="Custom 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4FC2BF"/>
      </a:accent2>
      <a:accent3>
        <a:srgbClr val="00698C"/>
      </a:accent3>
      <a:accent4>
        <a:srgbClr val="A00C30"/>
      </a:accent4>
      <a:accent5>
        <a:srgbClr val="A59C87"/>
      </a:accent5>
      <a:accent6>
        <a:srgbClr val="92D1B3"/>
      </a:accent6>
      <a:hlink>
        <a:srgbClr val="507BD8"/>
      </a:hlink>
      <a:folHlink>
        <a:srgbClr val="EDEFF0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7460A33-6C3B-4401-A052-4C9873BD6F3C}" vid="{0F9184E4-141E-405D-9743-0B1522E21E04}"/>
    </a:ext>
  </a:extLst>
</a:theme>
</file>

<file path=ppt/theme/theme4.xml><?xml version="1.0" encoding="utf-8"?>
<a:theme xmlns:a="http://schemas.openxmlformats.org/drawingml/2006/main" name="UNCG White Background">
  <a:themeElements>
    <a:clrScheme name="Custom 1">
      <a:dk1>
        <a:sysClr val="windowText" lastClr="000000"/>
      </a:dk1>
      <a:lt1>
        <a:sysClr val="window" lastClr="FFFFFF"/>
      </a:lt1>
      <a:dk2>
        <a:srgbClr val="0F2044"/>
      </a:dk2>
      <a:lt2>
        <a:srgbClr val="BEC0C2"/>
      </a:lt2>
      <a:accent1>
        <a:srgbClr val="FFB71B"/>
      </a:accent1>
      <a:accent2>
        <a:srgbClr val="4FC2BF"/>
      </a:accent2>
      <a:accent3>
        <a:srgbClr val="00698C"/>
      </a:accent3>
      <a:accent4>
        <a:srgbClr val="A00C30"/>
      </a:accent4>
      <a:accent5>
        <a:srgbClr val="A59C87"/>
      </a:accent5>
      <a:accent6>
        <a:srgbClr val="92D1B3"/>
      </a:accent6>
      <a:hlink>
        <a:srgbClr val="507BD8"/>
      </a:hlink>
      <a:folHlink>
        <a:srgbClr val="EDEFF0"/>
      </a:folHlink>
    </a:clrScheme>
    <a:fontScheme name="uncg-brand-2018-v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7460A33-6C3B-4401-A052-4C9873BD6F3C}" vid="{ABF84CE2-9DF7-4E0B-AF84-4D980F981D9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uncg-ppt-tmpl-2018-standard43-logo-bl-horiz-v2</Template>
  <TotalTime>1166</TotalTime>
  <Words>515</Words>
  <Application>Microsoft Office PowerPoint</Application>
  <PresentationFormat>On-screen Show (4:3)</PresentationFormat>
  <Paragraphs>153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Georgia</vt:lpstr>
      <vt:lpstr>Wingdings</vt:lpstr>
      <vt:lpstr>UNCG Cover-Projection Slides</vt:lpstr>
      <vt:lpstr>UNCG_ End_Thank You Slides</vt:lpstr>
      <vt:lpstr>UNCG Navy Background</vt:lpstr>
      <vt:lpstr>UNCG White Background</vt:lpstr>
      <vt:lpstr>PowerPoint Presentation</vt:lpstr>
      <vt:lpstr>Introduction</vt:lpstr>
      <vt:lpstr>Sustainability Commitments</vt:lpstr>
      <vt:lpstr>Literature Review</vt:lpstr>
      <vt:lpstr>Data Collection</vt:lpstr>
      <vt:lpstr>Comparison Brands</vt:lpstr>
      <vt:lpstr>Descriptive Statistics - Revenue</vt:lpstr>
      <vt:lpstr>Descriptive Statistics - Stock</vt:lpstr>
      <vt:lpstr>Descriptive Statistics – G Trends</vt:lpstr>
      <vt:lpstr>Methods</vt:lpstr>
      <vt:lpstr>Results</vt:lpstr>
      <vt:lpstr>Event-Study Interpretation</vt:lpstr>
      <vt:lpstr>Event-Study Interpretation</vt:lpstr>
      <vt:lpstr>Event-Study Interpretation</vt:lpstr>
      <vt:lpstr>Conclusion</vt:lpstr>
      <vt:lpstr>Special 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Stewart</dc:creator>
  <cp:lastModifiedBy>Sara Stewart</cp:lastModifiedBy>
  <cp:revision>1</cp:revision>
  <dcterms:created xsi:type="dcterms:W3CDTF">2025-12-03T18:54:24Z</dcterms:created>
  <dcterms:modified xsi:type="dcterms:W3CDTF">2025-12-04T14:23:19Z</dcterms:modified>
</cp:coreProperties>
</file>